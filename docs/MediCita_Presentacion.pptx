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8A72">
              <a:alpha val="15000"/>
            </a:srgbClr>
          </a:solidFill>
          <a:ln w="12700">
            <a:solidFill>
              <a:srgbClr val="0D8A7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D8A72">
              <a:alpha val="10000"/>
            </a:srgbClr>
          </a:solidFill>
          <a:ln w="12700">
            <a:solidFill>
              <a:srgbClr val="0D8A72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8A7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9875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MediCita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Web de Gestión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Citas Médicas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Delta  ·  ITI 8° Cuatrimestre  ·  UPMH  ·  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Marcelino  ·  Alejandro Medina  ·  Sebastian Mendoza  ·  Eddi Rendón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280160" cy="347472"/>
          </a:xfrm>
          <a:prstGeom prst="rect">
            <a:avLst>
              <a:gd name="adj" fmla="val 21053"/>
            </a:avLst>
          </a:prstGeom>
          <a:solidFill>
            <a:srgbClr val="0D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23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Laravel 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20240" y="4023360"/>
            <a:ext cx="1097280" cy="347472"/>
          </a:xfrm>
          <a:prstGeom prst="rect">
            <a:avLst>
              <a:gd name="adj" fmla="val 21053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920240" y="402336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Vue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4023360"/>
            <a:ext cx="1188720" cy="347472"/>
          </a:xfrm>
          <a:prstGeom prst="rect">
            <a:avLst>
              <a:gd name="adj" fmla="val 21053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40233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MySQL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0" y="4023360"/>
            <a:ext cx="1371600" cy="347472"/>
          </a:xfrm>
          <a:prstGeom prst="rect">
            <a:avLst>
              <a:gd name="adj" fmla="val 21053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0" y="40233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Sanctum Auth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ya funciona?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del sistema en producción local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399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Login/Registro con token Sanctum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roles: paciente, médico,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recepcionista, administrador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86200" y="1399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Citas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de citas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 confirmación automático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vía Gmail SMTP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399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1399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Paciente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mis citas, historial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clínico, notificaciones y perfil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🩺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Médico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semanal con calendario,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pacientes 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diagnósticos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8328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886200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citas y pacientes,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del día y reportes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operativos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36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66560" y="30906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5204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completo: citas, pacientes,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gestión de usuarios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sistema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APIs Utilizadas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endpoints REST bajo /api/v1/ con autenticación Sanctum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9903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99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POST /register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POST /login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POST /logout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39903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D8A72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399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Citas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GET/POST /citas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PUT/DELETE /citas/{id}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39903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3990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Médicos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GET/POST /medicos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PUT/DELETE /medicos/{id}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299923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999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Pacientes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GET/POST /pacientes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GET /pacientes/{id}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8346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99923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C4899"/>
          </a:solidFill>
          <a:ln/>
        </p:spPr>
      </p:sp>
      <p:sp>
        <p:nvSpPr>
          <p:cNvPr id="27" name="Text 25"/>
          <p:cNvSpPr/>
          <p:nvPr/>
        </p:nvSpPr>
        <p:spPr>
          <a:xfrm>
            <a:off x="3383280" y="2999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2900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/agenda/medico/{id}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/agenda/todos?fecha=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83464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63640" y="2999232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9992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Reportes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3383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/reportes/resumen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3703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/reportes/periodo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/reportes/medico/{id}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Conexión Frontend ↔ API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comunicación Vue 3 → Laravel → MySQL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2560320" cy="128016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localhost:5173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560320" cy="128016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371600"/>
            <a:ext cx="2560320" cy="1280160"/>
          </a:xfrm>
          <a:prstGeom prst="roundRect">
            <a:avLst>
              <a:gd name="adj" fmla="val 10000"/>
            </a:avLst>
          </a:prstGeom>
          <a:solidFill>
            <a:srgbClr val="1A2F2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4630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26480" y="2286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medicita DB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2011680"/>
            <a:ext cx="365760" cy="0"/>
          </a:xfrm>
          <a:prstGeom prst="line">
            <a:avLst/>
          </a:prstGeom>
          <a:noFill/>
          <a:ln w="31750">
            <a:solidFill>
              <a:srgbClr val="0D8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fetch() + Bearer Token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0" y="2011680"/>
            <a:ext cx="365760" cy="0"/>
          </a:xfrm>
          <a:prstGeom prst="line">
            <a:avLst/>
          </a:prstGeom>
          <a:noFill/>
          <a:ln w="31750">
            <a:solidFill>
              <a:srgbClr val="0D8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7889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Eloquent ORM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1868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Usuario interactúa con Vue → se dispara fetch() con Bearer token en el header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621024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63931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Laravel valida token con Sanctum Middleware → ejecuta lógica del controlador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0599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Eloquent ORM consulta MySQL → devuelve JSON con relaciones anidadas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462272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48056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Vue recibe respuesta y actualiza la interfaz reactivamente con ref/computed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Completo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implementadas en backend y frontend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560320" y="118872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560320" y="1188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069080" y="118872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0D8A72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188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18872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1188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86600" y="118872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086600" y="11887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DELETE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6002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60020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69080" y="160020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06908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160020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86600" y="160020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6002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98424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198424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19842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69080" y="198424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27" name="Text 25"/>
          <p:cNvSpPr/>
          <p:nvPr/>
        </p:nvSpPr>
        <p:spPr>
          <a:xfrm>
            <a:off x="4069080" y="19842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77840" y="198424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29" name="Text 27"/>
          <p:cNvSpPr/>
          <p:nvPr/>
        </p:nvSpPr>
        <p:spPr>
          <a:xfrm>
            <a:off x="5577840" y="19842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86600" y="198424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31" name="Text 29"/>
          <p:cNvSpPr/>
          <p:nvPr/>
        </p:nvSpPr>
        <p:spPr>
          <a:xfrm>
            <a:off x="7086600" y="19842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65760" y="2368296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236829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560320" y="236829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35" name="Text 33"/>
          <p:cNvSpPr/>
          <p:nvPr/>
        </p:nvSpPr>
        <p:spPr>
          <a:xfrm>
            <a:off x="2560320" y="23682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069080" y="236829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37" name="Text 35"/>
          <p:cNvSpPr/>
          <p:nvPr/>
        </p:nvSpPr>
        <p:spPr>
          <a:xfrm>
            <a:off x="4069080" y="23682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236829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39" name="Text 37"/>
          <p:cNvSpPr/>
          <p:nvPr/>
        </p:nvSpPr>
        <p:spPr>
          <a:xfrm>
            <a:off x="5577840" y="23682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086600" y="236829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41" name="Text 39"/>
          <p:cNvSpPr/>
          <p:nvPr/>
        </p:nvSpPr>
        <p:spPr>
          <a:xfrm>
            <a:off x="7086600" y="236829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65760" y="2752344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" y="275234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560320" y="2752344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45" name="Text 43"/>
          <p:cNvSpPr/>
          <p:nvPr/>
        </p:nvSpPr>
        <p:spPr>
          <a:xfrm>
            <a:off x="2560320" y="27523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069080" y="2752344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47" name="Text 45"/>
          <p:cNvSpPr/>
          <p:nvPr/>
        </p:nvSpPr>
        <p:spPr>
          <a:xfrm>
            <a:off x="4069080" y="27523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5577840" y="2752344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49" name="Text 47"/>
          <p:cNvSpPr/>
          <p:nvPr/>
        </p:nvSpPr>
        <p:spPr>
          <a:xfrm>
            <a:off x="5577840" y="27523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7086600" y="2752344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51" name="Text 49"/>
          <p:cNvSpPr/>
          <p:nvPr/>
        </p:nvSpPr>
        <p:spPr>
          <a:xfrm>
            <a:off x="7086600" y="275234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65760" y="3136392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313639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Expediente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560320" y="3136392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55" name="Text 53"/>
          <p:cNvSpPr/>
          <p:nvPr/>
        </p:nvSpPr>
        <p:spPr>
          <a:xfrm>
            <a:off x="2560320" y="3136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069080" y="3136392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57" name="Text 55"/>
          <p:cNvSpPr/>
          <p:nvPr/>
        </p:nvSpPr>
        <p:spPr>
          <a:xfrm>
            <a:off x="4069080" y="3136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577840" y="3136392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59" name="Text 57"/>
          <p:cNvSpPr/>
          <p:nvPr/>
        </p:nvSpPr>
        <p:spPr>
          <a:xfrm>
            <a:off x="5577840" y="3136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7086600" y="3136392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7086600" y="3136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—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365760" y="3520440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365760" y="35204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Consulta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2560320" y="352044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65" name="Text 63"/>
          <p:cNvSpPr/>
          <p:nvPr/>
        </p:nvSpPr>
        <p:spPr>
          <a:xfrm>
            <a:off x="2560320" y="3520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4069080" y="352044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67" name="Text 65"/>
          <p:cNvSpPr/>
          <p:nvPr/>
        </p:nvSpPr>
        <p:spPr>
          <a:xfrm>
            <a:off x="4069080" y="3520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577840" y="352044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69" name="Text 67"/>
          <p:cNvSpPr/>
          <p:nvPr/>
        </p:nvSpPr>
        <p:spPr>
          <a:xfrm>
            <a:off x="5577840" y="3520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7086600" y="3520440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71" name="Text 69"/>
          <p:cNvSpPr/>
          <p:nvPr/>
        </p:nvSpPr>
        <p:spPr>
          <a:xfrm>
            <a:off x="7086600" y="35204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65760" y="3904488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39044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560320" y="390448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75" name="Text 73"/>
          <p:cNvSpPr/>
          <p:nvPr/>
        </p:nvSpPr>
        <p:spPr>
          <a:xfrm>
            <a:off x="2560320" y="39044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4069080" y="390448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77" name="Text 75"/>
          <p:cNvSpPr/>
          <p:nvPr/>
        </p:nvSpPr>
        <p:spPr>
          <a:xfrm>
            <a:off x="4069080" y="39044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5577840" y="390448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/>
        </p:spPr>
      </p:sp>
      <p:sp>
        <p:nvSpPr>
          <p:cNvPr id="79" name="Text 77"/>
          <p:cNvSpPr/>
          <p:nvPr/>
        </p:nvSpPr>
        <p:spPr>
          <a:xfrm>
            <a:off x="5577840" y="39044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7086600" y="3904488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/>
        </p:spPr>
      </p:sp>
      <p:sp>
        <p:nvSpPr>
          <p:cNvPr id="81" name="Text 79"/>
          <p:cNvSpPr/>
          <p:nvPr/>
        </p:nvSpPr>
        <p:spPr>
          <a:xfrm>
            <a:off x="7086600" y="390448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—</a:t>
            </a:r>
            <a:endParaRPr lang="en-US" sz="1300" dirty="0"/>
          </a:p>
        </p:txBody>
      </p:sp>
      <p:sp>
        <p:nvSpPr>
          <p:cNvPr id="82" name="Shape 80"/>
          <p:cNvSpPr/>
          <p:nvPr/>
        </p:nvSpPr>
        <p:spPr>
          <a:xfrm>
            <a:off x="365760" y="4288536"/>
            <a:ext cx="2057400" cy="3200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428853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560320" y="428853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85" name="Text 83"/>
          <p:cNvSpPr/>
          <p:nvPr/>
        </p:nvSpPr>
        <p:spPr>
          <a:xfrm>
            <a:off x="2560320" y="42885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86" name="Shape 84"/>
          <p:cNvSpPr/>
          <p:nvPr/>
        </p:nvSpPr>
        <p:spPr>
          <a:xfrm>
            <a:off x="4069080" y="428853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87" name="Text 85"/>
          <p:cNvSpPr/>
          <p:nvPr/>
        </p:nvSpPr>
        <p:spPr>
          <a:xfrm>
            <a:off x="4069080" y="42885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5577840" y="428853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89" name="Text 87"/>
          <p:cNvSpPr/>
          <p:nvPr/>
        </p:nvSpPr>
        <p:spPr>
          <a:xfrm>
            <a:off x="5577840" y="42885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7086600" y="4288536"/>
            <a:ext cx="1325880" cy="32004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/>
        </p:spPr>
      </p:sp>
      <p:sp>
        <p:nvSpPr>
          <p:cNvPr id="91" name="Text 89"/>
          <p:cNvSpPr/>
          <p:nvPr/>
        </p:nvSpPr>
        <p:spPr>
          <a:xfrm>
            <a:off x="7086600" y="428853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8A72"/>
                </a:solidFill>
              </a:rPr>
              <a:t>✓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con permisos y vistas independientes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9903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/dashboard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 y agendar citas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Cancelar citas propias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Consultar historial clínico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22783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0D8A7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8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3520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/medico/inicio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8130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 agenda diaria y semanal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0873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Registrar diagnósticos y recetas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361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 historial de pacientes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1148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39903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399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1399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16916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/recepcionista/inicio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19842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Gestionar todas las citas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258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Registrar nuevos pacientes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2532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Check-in del día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4114800" cy="1691640"/>
          </a:xfrm>
          <a:prstGeom prst="roundRect">
            <a:avLst>
              <a:gd name="adj" fmla="val 75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92040" y="3227832"/>
            <a:ext cx="411480" cy="411480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9496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35204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/admin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81304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total al sistema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0873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Gestión de usuarios y roles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37760" y="4361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Reportes completos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0D8A72">
              <a:alpha val="12000"/>
            </a:srgbClr>
          </a:solidFill>
          <a:ln w="12700">
            <a:solidFill>
              <a:srgbClr val="0D8A72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91440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8A7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+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914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MediCita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web de gestión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citas médicas — 100% funcional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3035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REST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30175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3035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035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en BD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01752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303580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8A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903720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Equipo Delta  ·  UPMH  ·  Tecnologías y Aplicaciones en Internet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MediCita - Presentación del Proyecto</dc:title>
  <dc:subject>PptxGenJS Presentation</dc:subject>
  <dc:creator>PptxGenJS</dc:creator>
  <cp:lastModifiedBy>PptxGenJS</cp:lastModifiedBy>
  <cp:revision>1</cp:revision>
  <dcterms:created xsi:type="dcterms:W3CDTF">2026-07-07T06:43:23Z</dcterms:created>
  <dcterms:modified xsi:type="dcterms:W3CDTF">2026-07-07T06:43:23Z</dcterms:modified>
</cp:coreProperties>
</file>